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032" r:id="rId1"/>
  </p:sldMasterIdLst>
  <p:notesMasterIdLst>
    <p:notesMasterId r:id="rId19"/>
  </p:notesMasterIdLst>
  <p:sldIdLst>
    <p:sldId id="261" r:id="rId2"/>
    <p:sldId id="273" r:id="rId3"/>
    <p:sldId id="385" r:id="rId4"/>
    <p:sldId id="387" r:id="rId5"/>
    <p:sldId id="388" r:id="rId6"/>
    <p:sldId id="404" r:id="rId7"/>
    <p:sldId id="405" r:id="rId8"/>
    <p:sldId id="406" r:id="rId9"/>
    <p:sldId id="389" r:id="rId10"/>
    <p:sldId id="390" r:id="rId11"/>
    <p:sldId id="391" r:id="rId12"/>
    <p:sldId id="407" r:id="rId13"/>
    <p:sldId id="408" r:id="rId14"/>
    <p:sldId id="409" r:id="rId15"/>
    <p:sldId id="410" r:id="rId16"/>
    <p:sldId id="411" r:id="rId17"/>
    <p:sldId id="384" r:id="rId18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45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4386" autoAdjust="0"/>
  </p:normalViewPr>
  <p:slideViewPr>
    <p:cSldViewPr>
      <p:cViewPr varScale="1">
        <p:scale>
          <a:sx n="110" d="100"/>
          <a:sy n="110" d="100"/>
        </p:scale>
        <p:origin x="315" y="5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90F5C750-DFCB-42F1-BA65-C2C075AB8A2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F41C3C4F-D3EE-46B9-BC9F-0C5417214E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6804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E89F1E-1FC6-4F34-825C-1E865709611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BD9F-87AE-9EB1-FC1E-F2F0E7B9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B0EC4FFD-5B70-2CBE-5FE0-A2EB37363E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3A94F9B-8038-A07A-E1B3-72E764E2F9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37F79BA1-34D7-BBCA-5D38-5D8E6D16B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43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0DC4-C9EA-F397-99B2-AFD0A4B0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3A7DC1A8-F175-1824-A2E7-124D0926AC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6D9983E2-7521-78C4-A57C-817A06726E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75A732-AAC8-4B2C-C8AD-506DBC4B7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8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584B-5C3E-0877-0397-DF6FF890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9614D32C-DF02-16D7-C7EC-A4E4F481CF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CF1C97BB-D047-6016-4A0B-EB7CCD5F53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F8704B84-694B-B0FB-0DA4-F65B37E9B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22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B6BDF-69DF-B2CC-DAB8-AF4ABE84B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3AF3CC73-882B-5ED5-4FF2-1501B7F51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8155F21-8477-BC5E-B9C9-0B1120DE70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57CF7447-9E07-4F2E-9A46-5B930045B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14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C5B1-F05D-0ABF-6FEA-F240A6BD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6B7463B6-B495-BC8F-BCB7-1612AE97B5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81D976A-47F5-76EC-1BE5-D84DD79464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24E4C4B6-4970-CC0B-E3D4-DEEB441FE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00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7935-22B3-35A7-612E-66EE24FA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D7456247-694A-9521-01DF-2B8535A603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8991E9F-C801-AC7C-3811-AA5974C3F1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36D72A8-7734-86BF-0F6C-B64FC5507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65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2827-6F0C-6E31-7B41-7BB9FBBEC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3650C9D1-7559-BB22-ACBA-F6DCB916A1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1F6A80D-6442-DBC2-3888-21A0C6AFFA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5257319-8B57-D1D9-D21D-0C26FCE93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79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CDDD-DEE1-4844-7677-A4E56355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FB1506AA-3EDB-76AC-92B5-B956439EDE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D3F2C138-9BB3-AEC8-E6A9-524D81B051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2029F56-3B4A-F3BD-9343-0E4882EE6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75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 dirty="0"/>
          </a:p>
        </p:txBody>
      </p:sp>
      <p:sp>
        <p:nvSpPr>
          <p:cNvPr id="77828" name="Rectangl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524CB-5A1F-44A8-A2BA-82FD55A91E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478338"/>
            <a:ext cx="9144000" cy="66516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4540250"/>
            <a:ext cx="2249488" cy="5349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4533900"/>
            <a:ext cx="6784975" cy="5334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363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91030396-71D7-4DE4-9301-B8C58A65D834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177800"/>
            <a:ext cx="5867400" cy="273050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CBADA6B4-663E-4EE1-9346-45D7E91C3A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5CD7F-492F-4140-ADED-23D3D4269087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FCEB6-9093-4AA6-8CC7-8FD66D634C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01A1C12-756F-428E-8C3E-06F546FE0D54}" type="datetime1">
              <a:rPr lang="en-US" smtClean="0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7050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D02980F9-4969-4F79-BBDB-965FF55F17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fld id="{1060BBFB-AA52-46D9-BBD2-BD0D85AE8E80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fld id="{93403362-4608-4E66-9D21-0887EF6677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fld id="{C1CB50F8-83B5-4E49-A293-4DDB041AA9E1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21"/>
          </p:nvPr>
        </p:nvSpPr>
        <p:spPr/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fld id="{D685A3A4-D9DC-4196-81C3-82E37DCB9B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1EBDA-1B96-4EDA-9A31-35BA44E3B28F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65A7C-A40A-4F08-860A-C04AE8EFCD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94DE045-897E-43F2-817E-479F4E21F3C3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46A03CA0-6874-4CB9-B7DC-FC0B4EB742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F72E4-7226-4721-A1F8-309FB886398B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CE105-250C-4E6D-BC3E-CE35E13FA6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9525" y="3429000"/>
            <a:ext cx="9144000" cy="66516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3497263"/>
            <a:ext cx="1463675" cy="5349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3490913"/>
            <a:ext cx="7589837" cy="53498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47800" y="0"/>
            <a:ext cx="100013" cy="51498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4638"/>
          </a:xfrm>
        </p:spPr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fld id="{04632932-A53C-4D13-AF6D-5AFB034F9207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8"/>
            <a:ext cx="1447800" cy="498475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>
              <a:defRPr/>
            </a:pPr>
            <a:fld id="{428E7C1F-1221-4058-8989-BB5F2B4E7F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300"/>
            <a:ext cx="4572000" cy="273050"/>
          </a:xfrm>
        </p:spPr>
        <p:txBody>
          <a:bodyPr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352550"/>
            <a:ext cx="8153400" cy="324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4638"/>
          </a:xfrm>
          <a:prstGeom prst="rect">
            <a:avLst/>
          </a:prstGeom>
        </p:spPr>
        <p:txBody>
          <a:bodyPr vert="horz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7EFF9F7-BFB8-4698-9259-9F212830C1B6}" type="datetime1">
              <a:rPr lang="en-US" smtClean="0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4686300"/>
            <a:ext cx="5421313" cy="273050"/>
          </a:xfrm>
          <a:prstGeom prst="rect">
            <a:avLst/>
          </a:prstGeom>
        </p:spPr>
        <p:txBody>
          <a:bodyPr vert="horz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1095375"/>
            <a:ext cx="9144000" cy="2397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128713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128713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950"/>
            <a:ext cx="533400" cy="182563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D7E8F9D7-FE14-4B9B-8F81-F42B62A56D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3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117475"/>
            <a:ext cx="8153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3" r:id="rId2"/>
    <p:sldLayoutId id="2147484067" r:id="rId3"/>
    <p:sldLayoutId id="2147484068" r:id="rId4"/>
    <p:sldLayoutId id="2147484069" r:id="rId5"/>
    <p:sldLayoutId id="2147484064" r:id="rId6"/>
    <p:sldLayoutId id="2147484070" r:id="rId7"/>
    <p:sldLayoutId id="2147484065" r:id="rId8"/>
    <p:sldLayoutId id="2147484071" r:id="rId9"/>
  </p:sldLayoutIdLst>
  <p:transition spd="med">
    <p:cut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w Cen MT" pitchFamily="34" charset="0"/>
        </a:defRPr>
      </a:lvl9pPr>
      <a:extLst/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EB641B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39639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javascript/javascript-tutorial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eeksforgeeks.org/reactjs/introduction-to-redux-action-reducers-and-store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reactjs/explain-reducers-in-redux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By </a:t>
            </a:r>
            <a:r>
              <a:rPr lang="en-US" b="1" dirty="0" err="1"/>
              <a:t>Saurabh</a:t>
            </a:r>
            <a:r>
              <a:rPr lang="en-US" b="1" dirty="0"/>
              <a:t> Sharma </a:t>
            </a:r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/>
              <a:t>React</a:t>
            </a:r>
            <a:endParaRPr lang="en-US" dirty="0"/>
          </a:p>
        </p:txBody>
      </p:sp>
      <p:sp>
        <p:nvSpPr>
          <p:cNvPr id="60420" name="AutoShape 4" descr="React Logo PNG Transparent &amp; SVG Vector - Freebie Suppl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0422" name="Picture 6" descr="C:\Users\Saurabh Kuamar\AppData\Local\Packages\Microsoft.Windows.Photos_8wekyb3d8bbwe\TempState\ShareServiceTempFolder\download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123478"/>
            <a:ext cx="3456384" cy="3253067"/>
          </a:xfrm>
          <a:prstGeom prst="rect">
            <a:avLst/>
          </a:prstGeom>
          <a:noFill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+ Redux Tutorial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= UI library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= State management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React-Redux connects both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None/>
              <a:defRPr/>
            </a:pPr>
            <a:endParaRPr 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med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Redux?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source of truth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Predictable state updates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Time-travel debugging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state across components</a:t>
            </a:r>
          </a:p>
        </p:txBody>
      </p:sp>
    </p:spTree>
  </p:cSld>
  <p:clrMapOvr>
    <a:masterClrMapping/>
  </p:clrMapOvr>
  <p:transition spd="med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Architecture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→ Holds application state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 → Describe what happened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Reducers → Decide how state changes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Dispatch → Sends actions to reducers</a:t>
            </a:r>
          </a:p>
        </p:txBody>
      </p:sp>
    </p:spTree>
  </p:cSld>
  <p:clrMapOvr>
    <a:masterClrMapping/>
  </p:clrMapOvr>
  <p:transition spd="med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Calibri" pitchFamily="34" charset="0"/>
              </a:rPr>
              <a:t>Store</a:t>
            </a: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Redux, the 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is the central where all the state for the application is 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ensures the state is predictable and persistent for the entire application. is the central component for handling the state for the 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application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Basics of Redux Store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Redux store is the heart of 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management 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Redux application. It acts as a centralized hub where all the state data is stored and managed. This ensures consistency and predictability in handling application state.</a:t>
            </a:r>
          </a:p>
        </p:txBody>
      </p:sp>
    </p:spTree>
  </p:cSld>
  <p:clrMapOvr>
    <a:masterClrMapping/>
  </p:clrMapOvr>
  <p:transition spd="med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84C6-9344-E978-0C97-72D408F3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E16002D0-B847-8A64-B996-E9E85209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Calibri" pitchFamily="34" charset="0"/>
              </a:rPr>
              <a:t>Store continued..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BCDBD32-AC87-CCA1-59AD-538130894E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 of the Redux Store: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Manages Application State: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It stores and organizes all the data that different components need.</a:t>
            </a:r>
          </a:p>
          <a:p>
            <a:pPr lvl="1"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Access to State: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 can retrieve data from the store using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getState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lvl="1"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 State with Actions: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state happen only through dispatch(action), ensuring that updates follow a predictable flow.</a:t>
            </a:r>
          </a:p>
          <a:p>
            <a:pPr lvl="1" algn="just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Reducers: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Reducers define how state updates occur based on actions dispatched to the store.</a:t>
            </a:r>
          </a:p>
        </p:txBody>
      </p:sp>
    </p:spTree>
    <p:extLst>
      <p:ext uri="{BB962C8B-B14F-4D97-AF65-F5344CB8AC3E}">
        <p14:creationId xmlns:p14="http://schemas.microsoft.com/office/powerpoint/2010/main" val="102466880"/>
      </p:ext>
    </p:extLst>
  </p:cSld>
  <p:clrMapOvr>
    <a:masterClrMapping/>
  </p:clrMapOvr>
  <p:transition spd="med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AAAC-9151-1C2D-29CB-FF6D8D58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1A66ACEC-0365-8425-C855-746C39DF5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Actions?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598608-6A51-1997-ACAF-7CB0120885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 are plain 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JavaScript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objects that describe what needs to change in the application's state. They are the only way to send data to the 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Redux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store. Each action must have a type property that defines what kind of change should happen. Optionally, it can include additional data (payload) needed for the update.</a:t>
            </a:r>
          </a:p>
          <a:p>
            <a:pPr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1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q"/>
              <a:defRPr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incrementAction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 type: 'INCREMENT' };</a:t>
            </a:r>
          </a:p>
          <a:p>
            <a:pPr lvl="1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q"/>
              <a:defRPr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decrementAction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 type: 'DECREMENT' };</a:t>
            </a:r>
          </a:p>
          <a:p>
            <a:pPr lvl="1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q"/>
              <a:defRPr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addUserAction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 type: 'ADD_USER', payload: { name: 'Jiya', age: 30 } };</a:t>
            </a:r>
          </a:p>
        </p:txBody>
      </p:sp>
    </p:spTree>
    <p:extLst>
      <p:ext uri="{BB962C8B-B14F-4D97-AF65-F5344CB8AC3E}">
        <p14:creationId xmlns:p14="http://schemas.microsoft.com/office/powerpoint/2010/main" val="3054469967"/>
      </p:ext>
    </p:extLst>
  </p:cSld>
  <p:clrMapOvr>
    <a:masterClrMapping/>
  </p:clrMapOvr>
  <p:transition spd="med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249F-FBCD-39FE-FBC9-BFD69AB1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21BC878A-401F-6135-461F-0673BDE1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Reducers?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8461EA4-1B36-399B-9C45-D4F7C9B015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Reducers determine how the state should change based on the received action. A 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reducer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is a pure function that takes the current state and an action as input and returns the new state.</a:t>
            </a:r>
          </a:p>
          <a:p>
            <a:pPr lvl="1"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be pure functions (no side effects like API calls or modifying inputs).</a:t>
            </a:r>
          </a:p>
          <a:p>
            <a:pPr lvl="1"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Should return a new state instead of modifying the existing state.</a:t>
            </a:r>
          </a:p>
          <a:p>
            <a:pPr lvl="1"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 always return a valid state.</a:t>
            </a:r>
          </a:p>
        </p:txBody>
      </p:sp>
    </p:spTree>
    <p:extLst>
      <p:ext uri="{BB962C8B-B14F-4D97-AF65-F5344CB8AC3E}">
        <p14:creationId xmlns:p14="http://schemas.microsoft.com/office/powerpoint/2010/main" val="652991571"/>
      </p:ext>
    </p:extLst>
  </p:cSld>
  <p:clrMapOvr>
    <a:masterClrMapping/>
  </p:clrMapOvr>
  <p:transition spd="med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Actions and Reducers Connect to the Store</a:t>
            </a: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Dispatches an Action: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 or middleware dispatch an action to signal a change.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dispatch({ type: 'INCREMENT' });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is Passed to the Reducer: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store automatically sends the dispatched action to the corresponding reducer.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 Updates the State: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reducer takes the current state and the action, processes it, and returns a new state.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Updates Components: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Redux store notifies all subscribed components about the state update. Components re-render with the latest state.</a:t>
            </a:r>
          </a:p>
        </p:txBody>
      </p:sp>
    </p:spTree>
  </p:cSld>
  <p:clrMapOvr>
    <a:masterClrMapping/>
  </p:clrMapOvr>
  <p:transition spd="med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React-Redux Integration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Provider wraps the app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useSelector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reads state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useDispatch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sends actions</a:t>
            </a:r>
          </a:p>
        </p:txBody>
      </p:sp>
    </p:spTree>
  </p:cSld>
  <p:clrMapOvr>
    <a:masterClrMapping/>
  </p:clrMapOvr>
  <p:transition spd="med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Toolkit (RTK)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Recommended way to write Redux</a:t>
            </a:r>
          </a:p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createSlice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→ reducers + actions</a:t>
            </a:r>
          </a:p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createAsyncThunk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→ async logic</a:t>
            </a:r>
          </a:p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configureStore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→ easier setup</a:t>
            </a:r>
          </a:p>
        </p:txBody>
      </p:sp>
    </p:spTree>
  </p:cSld>
  <p:clrMapOvr>
    <a:masterClrMapping/>
  </p:clrMapOvr>
  <p:transition spd="med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2DE1-FAF5-6CB5-CF9A-C62D3CDC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13038566-0708-6228-4E8B-7EFC733C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Example: Counter Slice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AC6DC4-59E1-006B-C2B0-1EC24EF83E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state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Reducers for + and -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 auto-generated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 reducer to store</a:t>
            </a:r>
          </a:p>
        </p:txBody>
      </p:sp>
    </p:spTree>
    <p:extLst>
      <p:ext uri="{BB962C8B-B14F-4D97-AF65-F5344CB8AC3E}">
        <p14:creationId xmlns:p14="http://schemas.microsoft.com/office/powerpoint/2010/main" val="232410236"/>
      </p:ext>
    </p:extLst>
  </p:cSld>
  <p:clrMapOvr>
    <a:masterClrMapping/>
  </p:clrMapOvr>
  <p:transition spd="med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A3E8-0FC4-FBE8-91A5-CAB6C0AD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9FD8CA76-7B14-48E1-6B63-07EE9C4C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 Example: Fetching Data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E21B88D-21D2-E00A-256A-1779891D9E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createAsyncThunk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handles async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Pending → loading state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Fulfilled → data saved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 → error message</a:t>
            </a:r>
          </a:p>
        </p:txBody>
      </p:sp>
    </p:spTree>
    <p:extLst>
      <p:ext uri="{BB962C8B-B14F-4D97-AF65-F5344CB8AC3E}">
        <p14:creationId xmlns:p14="http://schemas.microsoft.com/office/powerpoint/2010/main" val="4075276147"/>
      </p:ext>
    </p:extLst>
  </p:cSld>
  <p:clrMapOvr>
    <a:masterClrMapping/>
  </p:clrMapOvr>
  <p:transition spd="med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7B6C-E9A9-BF27-324E-C1FB7AD7C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4577F3B4-7C0F-FA99-426F-BC78E078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Data Flow Diagram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1FD804E-99B9-AD52-1A55-C228E34B42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clicks button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dispatched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 runs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updates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updates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446363"/>
      </p:ext>
    </p:extLst>
  </p:cSld>
  <p:clrMapOvr>
    <a:masterClrMapping/>
  </p:clrMapOvr>
  <p:transition spd="med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DDB8-5E6B-9BE8-0F29-A1021C9B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A5C3A8C3-A1C0-2FD7-D676-2E98E38C2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7F32E0D-9E09-10AC-98A8-C073E0F72D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slices focused by feature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putting UI-only state in Redux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createEntityAdapter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lists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memoized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selectors</a:t>
            </a:r>
          </a:p>
        </p:txBody>
      </p:sp>
    </p:spTree>
    <p:extLst>
      <p:ext uri="{BB962C8B-B14F-4D97-AF65-F5344CB8AC3E}">
        <p14:creationId xmlns:p14="http://schemas.microsoft.com/office/powerpoint/2010/main" val="1105432280"/>
      </p:ext>
    </p:extLst>
  </p:cSld>
  <p:clrMapOvr>
    <a:masterClrMapping/>
  </p:clrMapOvr>
  <p:transition spd="med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7353-622D-AC1E-FC96-82D63C9E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7F1A6CC7-017E-C46C-03A9-2746F843B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Mistakes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C1833A-56A9-14FB-B964-4AE1F50231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91630"/>
            <a:ext cx="7748614" cy="290892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 non-serializable data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 many slices for small apps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Overusing Redux for trivial state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Selectors returning new objects</a:t>
            </a:r>
          </a:p>
        </p:txBody>
      </p:sp>
    </p:spTree>
    <p:extLst>
      <p:ext uri="{BB962C8B-B14F-4D97-AF65-F5344CB8AC3E}">
        <p14:creationId xmlns:p14="http://schemas.microsoft.com/office/powerpoint/2010/main" val="2985855148"/>
      </p:ext>
    </p:extLst>
  </p:cSld>
  <p:clrMapOvr>
    <a:masterClrMapping/>
  </p:clrMapOvr>
  <p:transition spd="med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/>
          </p:cNvSpPr>
          <p:nvPr>
            <p:ph type="title"/>
          </p:nvPr>
        </p:nvSpPr>
        <p:spPr>
          <a:xfrm>
            <a:off x="609600" y="117475"/>
            <a:ext cx="8534400" cy="1006475"/>
          </a:xfrm>
        </p:spPr>
        <p:txBody>
          <a:bodyPr/>
          <a:lstStyle/>
          <a:p>
            <a:r>
              <a:rPr lang="en-US" sz="2800" b="1" dirty="0">
                <a:latin typeface="Calibri" pitchFamily="34" charset="0"/>
              </a:rPr>
              <a:t>Day 1: Questions</a:t>
            </a:r>
            <a:endParaRPr lang="en-IN" sz="2800" b="1" dirty="0">
              <a:latin typeface="Calibri" pitchFamily="34" charset="0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1511" y="2706688"/>
            <a:ext cx="3634705" cy="3557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cu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657</Words>
  <Application>Microsoft Office PowerPoint</Application>
  <PresentationFormat>On-screen Show (16:9)</PresentationFormat>
  <Paragraphs>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Tw Cen MT</vt:lpstr>
      <vt:lpstr>Wingdings</vt:lpstr>
      <vt:lpstr>Wingdings 2</vt:lpstr>
      <vt:lpstr>Theme1</vt:lpstr>
      <vt:lpstr>React</vt:lpstr>
      <vt:lpstr>React + Redux Tutorial</vt:lpstr>
      <vt:lpstr>Why Redux?</vt:lpstr>
      <vt:lpstr>Redux Architecture</vt:lpstr>
      <vt:lpstr>Store</vt:lpstr>
      <vt:lpstr>Store continued..</vt:lpstr>
      <vt:lpstr>What Are Actions?</vt:lpstr>
      <vt:lpstr>What Are Reducers?</vt:lpstr>
      <vt:lpstr>How Actions and Reducers Connect to the Store</vt:lpstr>
      <vt:lpstr>React-Redux Integration</vt:lpstr>
      <vt:lpstr>Redux Toolkit (RTK)</vt:lpstr>
      <vt:lpstr>Core Example: Counter Slice</vt:lpstr>
      <vt:lpstr>Async Example: Fetching Data</vt:lpstr>
      <vt:lpstr>Redux Data Flow Diagram</vt:lpstr>
      <vt:lpstr>Best Practices</vt:lpstr>
      <vt:lpstr>Common Mistakes</vt:lpstr>
      <vt:lpstr>Day 1: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PMP</dc:title>
  <dc:creator/>
  <cp:lastModifiedBy/>
  <cp:revision>5</cp:revision>
  <dcterms:created xsi:type="dcterms:W3CDTF">2010-09-05T14:08:51Z</dcterms:created>
  <dcterms:modified xsi:type="dcterms:W3CDTF">2025-11-28T04:01:54Z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